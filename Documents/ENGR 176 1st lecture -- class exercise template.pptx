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3"/>
  </p:notesMasterIdLst>
  <p:handoutMasterIdLst>
    <p:handoutMasterId r:id="rId4"/>
  </p:handoutMasterIdLst>
  <p:sldIdLst>
    <p:sldId id="577" r:id="rId2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50">
          <p15:clr>
            <a:srgbClr val="A4A3A4"/>
          </p15:clr>
        </p15:guide>
        <p15:guide id="2" pos="29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8207"/>
    <p:restoredTop sz="95807"/>
  </p:normalViewPr>
  <p:slideViewPr>
    <p:cSldViewPr snapToGrid="0">
      <p:cViewPr varScale="1">
        <p:scale>
          <a:sx n="110" d="100"/>
          <a:sy n="110" d="100"/>
        </p:scale>
        <p:origin x="1688" y="64"/>
      </p:cViewPr>
      <p:guideLst>
        <p:guide orient="horz" pos="3650"/>
        <p:guide pos="29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2046" y="-10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1">
            <a:extLst>
              <a:ext uri="{FF2B5EF4-FFF2-40B4-BE49-F238E27FC236}">
                <a16:creationId xmlns:a16="http://schemas.microsoft.com/office/drawing/2014/main" id="{69600994-8090-339D-C909-B14394B63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altLang="en-US"/>
          </a:p>
        </p:txBody>
      </p:sp>
      <p:sp>
        <p:nvSpPr>
          <p:cNvPr id="3075" name="Rectangle 12">
            <a:extLst>
              <a:ext uri="{FF2B5EF4-FFF2-40B4-BE49-F238E27FC236}">
                <a16:creationId xmlns:a16="http://schemas.microsoft.com/office/drawing/2014/main" id="{C97830DB-9824-63A3-19FE-17EA2BB8B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</p:spPr>
        <p:txBody>
          <a:bodyPr lIns="95667" tIns="50185" rIns="95667" bIns="50185">
            <a:spAutoFit/>
          </a:bodyPr>
          <a:lstStyle>
            <a:lvl1pPr defTabSz="611188">
              <a:tabLst>
                <a:tab pos="2387600" algn="l"/>
                <a:tab pos="4830763" algn="l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611188">
              <a:tabLst>
                <a:tab pos="2387600" algn="l"/>
                <a:tab pos="4830763" algn="l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611188">
              <a:tabLst>
                <a:tab pos="2387600" algn="l"/>
                <a:tab pos="4830763" algn="l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611188">
              <a:tabLst>
                <a:tab pos="2387600" algn="l"/>
                <a:tab pos="4830763" algn="l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611188">
              <a:tabLst>
                <a:tab pos="2387600" algn="l"/>
                <a:tab pos="4830763" algn="l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6111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87600" algn="l"/>
                <a:tab pos="4830763" algn="l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6111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87600" algn="l"/>
                <a:tab pos="4830763" algn="l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6111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87600" algn="l"/>
                <a:tab pos="4830763" algn="l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6111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87600" algn="l"/>
                <a:tab pos="4830763" algn="l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defRPr/>
            </a:pPr>
            <a:r>
              <a:rPr lang="en-US" altLang="en-US" sz="800"/>
              <a:t>© 2006, Cisco Systems, Inc. All rights reserved.</a:t>
            </a:r>
          </a:p>
          <a:p>
            <a:pPr>
              <a:defRPr/>
            </a:pPr>
            <a:r>
              <a:rPr lang="en-US" altLang="en-US" sz="800"/>
              <a:t>Presentation_ID.scr</a:t>
            </a:r>
          </a:p>
        </p:txBody>
      </p:sp>
      <p:sp>
        <p:nvSpPr>
          <p:cNvPr id="4100" name="Line 13">
            <a:extLst>
              <a:ext uri="{FF2B5EF4-FFF2-40B4-BE49-F238E27FC236}">
                <a16:creationId xmlns:a16="http://schemas.microsoft.com/office/drawing/2014/main" id="{1FE31975-6B8B-684E-DA12-282F8CC864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7" name="Rectangle 14">
            <a:extLst>
              <a:ext uri="{FF2B5EF4-FFF2-40B4-BE49-F238E27FC236}">
                <a16:creationId xmlns:a16="http://schemas.microsoft.com/office/drawing/2014/main" id="{8964E677-CF9E-AAF0-9CB7-71DD3ADD2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</p:spPr>
        <p:txBody>
          <a:bodyPr lIns="18819" tIns="0" rIns="18819" bIns="0" anchor="b"/>
          <a:lstStyle>
            <a:lvl1pPr defTabSz="903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03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03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03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032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defRPr/>
            </a:pPr>
            <a:fld id="{8B4143C0-F472-A24A-8C31-3254A992F42D}" type="slidenum">
              <a:rPr lang="en-US" altLang="en-US" sz="800" smtClean="0"/>
              <a:pPr algn="r">
                <a:defRPr/>
              </a:pPr>
              <a:t>‹#›</a:t>
            </a:fld>
            <a:endParaRPr lang="en-US" altLang="en-US" sz="80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>
            <a:extLst>
              <a:ext uri="{FF2B5EF4-FFF2-40B4-BE49-F238E27FC236}">
                <a16:creationId xmlns:a16="http://schemas.microsoft.com/office/drawing/2014/main" id="{990DAE44-0A9F-0A11-E538-BD2B290F1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altLang="en-US"/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7F57FA85-A922-AB00-557B-2CB545AB8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</p:spPr>
        <p:txBody>
          <a:bodyPr lIns="95667" tIns="50185" rIns="95667" bIns="50185">
            <a:spAutoFit/>
          </a:bodyPr>
          <a:lstStyle>
            <a:lvl1pPr defTabSz="611188">
              <a:tabLst>
                <a:tab pos="2387600" algn="l"/>
                <a:tab pos="4830763" algn="l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611188">
              <a:tabLst>
                <a:tab pos="2387600" algn="l"/>
                <a:tab pos="4830763" algn="l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611188">
              <a:tabLst>
                <a:tab pos="2387600" algn="l"/>
                <a:tab pos="4830763" algn="l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611188">
              <a:tabLst>
                <a:tab pos="2387600" algn="l"/>
                <a:tab pos="4830763" algn="l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611188">
              <a:tabLst>
                <a:tab pos="2387600" algn="l"/>
                <a:tab pos="4830763" algn="l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6111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87600" algn="l"/>
                <a:tab pos="4830763" algn="l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6111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87600" algn="l"/>
                <a:tab pos="4830763" algn="l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6111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87600" algn="l"/>
                <a:tab pos="4830763" algn="l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6111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tabLst>
                <a:tab pos="2387600" algn="l"/>
                <a:tab pos="4830763" algn="l"/>
              </a:tabLs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defRPr/>
            </a:pPr>
            <a:r>
              <a:rPr lang="en-US" altLang="en-US" sz="800"/>
              <a:t>© 2006, Cisco Systems, Inc. All rights reserved.</a:t>
            </a:r>
          </a:p>
          <a:p>
            <a:pPr>
              <a:defRPr/>
            </a:pPr>
            <a:r>
              <a:rPr lang="en-US" altLang="en-US" sz="800"/>
              <a:t>Presentation_ID.scr</a:t>
            </a:r>
          </a:p>
        </p:txBody>
      </p:sp>
      <p:sp>
        <p:nvSpPr>
          <p:cNvPr id="3076" name="Line 10">
            <a:extLst>
              <a:ext uri="{FF2B5EF4-FFF2-40B4-BE49-F238E27FC236}">
                <a16:creationId xmlns:a16="http://schemas.microsoft.com/office/drawing/2014/main" id="{653BD315-9255-1C45-B2F7-2B92F63106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3307" name="Rectangle 11">
            <a:extLst>
              <a:ext uri="{FF2B5EF4-FFF2-40B4-BE49-F238E27FC236}">
                <a16:creationId xmlns:a16="http://schemas.microsoft.com/office/drawing/2014/main" id="{0B8F9CD3-41C6-4568-7D28-78FCD7C1B5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defRPr sz="800"/>
            </a:lvl1pPr>
          </a:lstStyle>
          <a:p>
            <a:pPr>
              <a:defRPr/>
            </a:pPr>
            <a:fld id="{43E302EB-CC4B-224A-B2E5-C1158424E7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078" name="Rectangle 12">
            <a:extLst>
              <a:ext uri="{FF2B5EF4-FFF2-40B4-BE49-F238E27FC236}">
                <a16:creationId xmlns:a16="http://schemas.microsoft.com/office/drawing/2014/main" id="{E0123D03-AD66-193E-9436-D2B3CCCC442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309" name="Rectangle 13">
            <a:extLst>
              <a:ext uri="{FF2B5EF4-FFF2-40B4-BE49-F238E27FC236}">
                <a16:creationId xmlns:a16="http://schemas.microsoft.com/office/drawing/2014/main" id="{E0068EB9-D996-A442-276C-6A3224A2C73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pitchFamily="34" charset="0"/>
        <a:ea typeface="ＭＳ Ｐゴシック" charset="0"/>
        <a:cs typeface="ＭＳ Ｐゴシック" charset="0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1">
            <a:extLst>
              <a:ext uri="{FF2B5EF4-FFF2-40B4-BE49-F238E27FC236}">
                <a16:creationId xmlns:a16="http://schemas.microsoft.com/office/drawing/2014/main" id="{93E81996-2093-760F-D1EE-AF0C92015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</p:spPr>
        <p:txBody>
          <a:bodyPr wrap="none" lIns="82124" tIns="41061" rIns="82124" bIns="41061" anchor="b">
            <a:spAutoFit/>
          </a:bodyPr>
          <a:lstStyle>
            <a:lvl1pPr defTabSz="8143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8143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8143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8143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8143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defRPr/>
            </a:pPr>
            <a:fld id="{D25DADA4-6CE8-D844-9E0F-730668DE4CC6}" type="slidenum">
              <a:rPr lang="en-US" altLang="en-US" sz="1000" smtClean="0">
                <a:solidFill>
                  <a:srgbClr val="D3D3D3"/>
                </a:solidFill>
              </a:rPr>
              <a:pPr algn="r">
                <a:defRPr/>
              </a:pPr>
              <a:t>‹#›</a:t>
            </a:fld>
            <a:endParaRPr lang="en-US" altLang="en-US" sz="1000">
              <a:solidFill>
                <a:srgbClr val="D3D3D3"/>
              </a:solidFill>
            </a:endParaRPr>
          </a:p>
        </p:txBody>
      </p:sp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650875" y="25574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650875" y="4733925"/>
            <a:ext cx="6940550" cy="419100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5699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0712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4914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1520825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1520825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7315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185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4175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91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4212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5920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045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304800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304800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891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146">
            <a:extLst>
              <a:ext uri="{FF2B5EF4-FFF2-40B4-BE49-F238E27FC236}">
                <a16:creationId xmlns:a16="http://schemas.microsoft.com/office/drawing/2014/main" id="{652637BE-42FB-3703-E313-3172452241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304800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sp>
        <p:nvSpPr>
          <p:cNvPr id="1027" name="Rectangle 6278">
            <a:extLst>
              <a:ext uri="{FF2B5EF4-FFF2-40B4-BE49-F238E27FC236}">
                <a16:creationId xmlns:a16="http://schemas.microsoft.com/office/drawing/2014/main" id="{B54FF33D-8027-9590-9591-C2814C47B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778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altLang="en-US"/>
          </a:p>
        </p:txBody>
      </p:sp>
      <p:sp>
        <p:nvSpPr>
          <p:cNvPr id="1028" name="Rectangle 6282">
            <a:extLst>
              <a:ext uri="{FF2B5EF4-FFF2-40B4-BE49-F238E27FC236}">
                <a16:creationId xmlns:a16="http://schemas.microsoft.com/office/drawing/2014/main" id="{5D733AE1-5B6E-CDE6-0389-FC294B5FC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</p:spPr>
        <p:txBody>
          <a:bodyPr wrap="none" lIns="82124" tIns="41061" rIns="82124" bIns="41061" anchor="b">
            <a:spAutoFit/>
          </a:bodyPr>
          <a:lstStyle>
            <a:lvl1pPr defTabSz="8143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8143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8143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8143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8143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defRPr/>
            </a:pPr>
            <a:fld id="{4F5F38D5-2B2B-714A-BF4C-2CE495EB7B62}" type="slidenum">
              <a:rPr lang="en-US" altLang="en-US" sz="1000" smtClean="0">
                <a:solidFill>
                  <a:srgbClr val="D3D3D3"/>
                </a:solidFill>
              </a:rPr>
              <a:pPr algn="r">
                <a:defRPr/>
              </a:pPr>
              <a:t>‹#›</a:t>
            </a:fld>
            <a:endParaRPr lang="en-US" altLang="en-US" sz="1000">
              <a:solidFill>
                <a:srgbClr val="D3D3D3"/>
              </a:solidFill>
            </a:endParaRPr>
          </a:p>
        </p:txBody>
      </p:sp>
      <p:sp>
        <p:nvSpPr>
          <p:cNvPr id="1029" name="Rectangle 6284">
            <a:extLst>
              <a:ext uri="{FF2B5EF4-FFF2-40B4-BE49-F238E27FC236}">
                <a16:creationId xmlns:a16="http://schemas.microsoft.com/office/drawing/2014/main" id="{91EE063E-466A-234E-86CE-F6E1A9D8B0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1520825"/>
            <a:ext cx="7940675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Body Text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31" r:id="rId2"/>
    <p:sldLayoutId id="2147484032" r:id="rId3"/>
    <p:sldLayoutId id="2147484033" r:id="rId4"/>
    <p:sldLayoutId id="2147484034" r:id="rId5"/>
    <p:sldLayoutId id="2147484035" r:id="rId6"/>
    <p:sldLayoutId id="2147484036" r:id="rId7"/>
    <p:sldLayoutId id="2147484037" r:id="rId8"/>
    <p:sldLayoutId id="2147484038" r:id="rId9"/>
    <p:sldLayoutId id="2147484039" r:id="rId10"/>
    <p:sldLayoutId id="2147484040" r:id="rId11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  <a:ea typeface="ＭＳ Ｐゴシック" charset="0"/>
          <a:cs typeface="ＭＳ Ｐゴシック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Arial" pitchFamily="34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chemeClr val="tx2"/>
        </a:buClr>
        <a:buSzPct val="100000"/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77CE077B-C2D7-B033-8C21-013E59B92A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Positioning Template</a:t>
            </a:r>
          </a:p>
        </p:txBody>
      </p:sp>
      <p:sp>
        <p:nvSpPr>
          <p:cNvPr id="5122" name="Rectangle 3">
            <a:extLst>
              <a:ext uri="{FF2B5EF4-FFF2-40B4-BE49-F238E27FC236}">
                <a16:creationId xmlns:a16="http://schemas.microsoft.com/office/drawing/2014/main" id="{790E20B3-9C80-0D42-55D1-E89EC8F4F1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520825"/>
            <a:ext cx="7940675" cy="4906963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en-US" b="1" dirty="0">
                <a:ea typeface="ＭＳ Ｐゴシック" panose="020B0600070205080204" pitchFamily="34" charset="-128"/>
              </a:rPr>
              <a:t>For: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i="1" dirty="0">
                <a:ea typeface="ＭＳ Ｐゴシック" panose="020B0600070205080204" pitchFamily="34" charset="-128"/>
              </a:rPr>
              <a:t>(target user)</a:t>
            </a:r>
            <a:endParaRPr lang="en-US" altLang="en-US" b="1" dirty="0">
              <a:ea typeface="ＭＳ Ｐゴシック" panose="020B0600070205080204" pitchFamily="34" charset="-128"/>
            </a:endParaRPr>
          </a:p>
          <a:p>
            <a:pPr>
              <a:spcAft>
                <a:spcPts val="1200"/>
              </a:spcAft>
            </a:pPr>
            <a:r>
              <a:rPr lang="en-US" altLang="en-US" b="1" dirty="0">
                <a:ea typeface="ＭＳ Ｐゴシック" panose="020B0600070205080204" pitchFamily="34" charset="-128"/>
              </a:rPr>
              <a:t>Who: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i="1" dirty="0">
                <a:ea typeface="ＭＳ Ｐゴシック" panose="020B0600070205080204" pitchFamily="34" charset="-128"/>
              </a:rPr>
              <a:t>(target user requests/problem it solves)</a:t>
            </a:r>
            <a:endParaRPr lang="en-US" altLang="en-US" b="1" dirty="0">
              <a:ea typeface="ＭＳ Ｐゴシック" panose="020B0600070205080204" pitchFamily="34" charset="-128"/>
            </a:endParaRPr>
          </a:p>
          <a:p>
            <a:pPr>
              <a:spcAft>
                <a:spcPts val="1200"/>
              </a:spcAft>
            </a:pPr>
            <a:r>
              <a:rPr lang="en-US" altLang="en-US" b="1" dirty="0">
                <a:ea typeface="ＭＳ Ｐゴシック" panose="020B0600070205080204" pitchFamily="34" charset="-128"/>
              </a:rPr>
              <a:t>The: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i="1" dirty="0">
                <a:ea typeface="ＭＳ Ｐゴシック" panose="020B0600070205080204" pitchFamily="34" charset="-128"/>
              </a:rPr>
              <a:t>(app name, application, </a:t>
            </a:r>
            <a:r>
              <a:rPr lang="en-US" altLang="en-US" i="1" dirty="0" err="1">
                <a:ea typeface="ＭＳ Ｐゴシック" panose="020B0600070205080204" pitchFamily="34" charset="-128"/>
              </a:rPr>
              <a:t>etc</a:t>
            </a:r>
            <a:r>
              <a:rPr lang="en-US" altLang="en-US" i="1" dirty="0">
                <a:ea typeface="ＭＳ Ｐゴシック" panose="020B0600070205080204" pitchFamily="34" charset="-128"/>
              </a:rPr>
              <a:t> &lt;general assessment of the app)</a:t>
            </a:r>
            <a:endParaRPr lang="en-US" altLang="en-US" b="1" dirty="0">
              <a:ea typeface="ＭＳ Ｐゴシック" panose="020B0600070205080204" pitchFamily="34" charset="-128"/>
            </a:endParaRPr>
          </a:p>
          <a:p>
            <a:pPr>
              <a:spcAft>
                <a:spcPts val="1200"/>
              </a:spcAft>
            </a:pPr>
            <a:r>
              <a:rPr lang="en-US" altLang="en-US" b="1" dirty="0">
                <a:ea typeface="ＭＳ Ｐゴシック" panose="020B0600070205080204" pitchFamily="34" charset="-128"/>
              </a:rPr>
              <a:t>Is: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i="1" dirty="0">
                <a:ea typeface="ＭＳ Ｐゴシック" panose="020B0600070205080204" pitchFamily="34" charset="-128"/>
              </a:rPr>
              <a:t>(what is this)</a:t>
            </a:r>
            <a:endParaRPr lang="en-US" altLang="en-US" b="1" dirty="0">
              <a:ea typeface="ＭＳ Ｐゴシック" panose="020B0600070205080204" pitchFamily="34" charset="-128"/>
            </a:endParaRPr>
          </a:p>
          <a:p>
            <a:pPr>
              <a:spcAft>
                <a:spcPts val="1200"/>
              </a:spcAft>
            </a:pPr>
            <a:r>
              <a:rPr lang="en-US" altLang="en-US" b="1" dirty="0">
                <a:ea typeface="ＭＳ Ｐゴシック" panose="020B0600070205080204" pitchFamily="34" charset="-128"/>
              </a:rPr>
              <a:t>That: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i="1" dirty="0">
                <a:ea typeface="ＭＳ Ｐゴシック" panose="020B0600070205080204" pitchFamily="34" charset="-128"/>
              </a:rPr>
              <a:t>(what does it do) </a:t>
            </a:r>
            <a:endParaRPr lang="en-US" altLang="en-US" b="1" dirty="0">
              <a:ea typeface="ＭＳ Ｐゴシック" panose="020B0600070205080204" pitchFamily="34" charset="-128"/>
            </a:endParaRPr>
          </a:p>
          <a:p>
            <a:pPr>
              <a:spcAft>
                <a:spcPts val="1200"/>
              </a:spcAft>
            </a:pPr>
            <a:r>
              <a:rPr lang="en-US" altLang="en-US" b="1" dirty="0">
                <a:ea typeface="ＭＳ Ｐゴシック" panose="020B0600070205080204" pitchFamily="34" charset="-128"/>
              </a:rPr>
              <a:t>Unlike: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i="1" dirty="0">
                <a:ea typeface="ＭＳ Ｐゴシック" panose="020B0600070205080204" pitchFamily="34" charset="-128"/>
              </a:rPr>
              <a:t>(competitors and their features)</a:t>
            </a:r>
            <a:endParaRPr lang="en-US" altLang="en-US" b="1" dirty="0">
              <a:ea typeface="ＭＳ Ｐゴシック" panose="020B0600070205080204" pitchFamily="34" charset="-128"/>
            </a:endParaRPr>
          </a:p>
          <a:p>
            <a:pPr>
              <a:spcAft>
                <a:spcPts val="1200"/>
              </a:spcAft>
            </a:pPr>
            <a:r>
              <a:rPr lang="en-US" altLang="en-US" b="1" dirty="0">
                <a:ea typeface="ＭＳ Ｐゴシック" panose="020B0600070205080204" pitchFamily="34" charset="-128"/>
              </a:rPr>
              <a:t>It (primary Differentiators):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i="1" dirty="0">
                <a:ea typeface="ＭＳ Ｐゴシック" panose="020B0600070205080204" pitchFamily="34" charset="-128"/>
              </a:rPr>
              <a:t>(what does it do different/better)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ct_2006_white_template">
  <a:themeElements>
    <a:clrScheme name="Oct_2006_white_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white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l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l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Oct_2006_white_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Oct_2006_white_template</Template>
  <TotalTime>59410</TotalTime>
  <Pages>28</Pages>
  <Words>72</Words>
  <Application>Microsoft Office PowerPoint</Application>
  <PresentationFormat>全屏显示(4:3)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Wingdings</vt:lpstr>
      <vt:lpstr>Oct_2006_white_template</vt:lpstr>
      <vt:lpstr>Positioning Template</vt:lpstr>
    </vt:vector>
  </TitlesOfParts>
  <Company>Cisco Systems,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Marketing The Heart of Tech Mktg</dc:title>
  <dc:subject>Guide for Creating Powerpoint Presentations</dc:subject>
  <dc:creator>maweiner</dc:creator>
  <cp:lastModifiedBy>天宝 杨</cp:lastModifiedBy>
  <cp:revision>394</cp:revision>
  <cp:lastPrinted>2017-01-17T23:31:01Z</cp:lastPrinted>
  <dcterms:created xsi:type="dcterms:W3CDTF">2008-04-24T04:40:44Z</dcterms:created>
  <dcterms:modified xsi:type="dcterms:W3CDTF">2026-01-15T20:31:06Z</dcterms:modified>
</cp:coreProperties>
</file>